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381000" dist="101600" dir="16200000">
              <a:srgbClr val="00F5FF">
                <a:alpha val="7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1500000">
            <a:off x="6858000" y="457200"/>
            <a:ext cx="9144" cy="274320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7498080" y="274320"/>
            <a:ext cx="9144" cy="365760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8046720" y="91440"/>
            <a:ext cx="9144" cy="457200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Q U A F R I S C 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97280" cy="27432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Supervisor Core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El futuro del control industrial inteligente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Núcleo de Supervisión Industrial 3D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Ciberseguridad Nativa e Inteligencia Artificial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Cyber Resilience Act Ready  •  Industria 6.0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676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EU CRA COMPLIANT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45720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A1F3D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16200000">
              <a:srgbClr val="00B4D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🛡️ SECURE BY DESIGN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45720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B8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🔮 INDUSTRY 6.0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486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CONFIDENCIAL  •  Aquafrisch Supervisor Core  •  Presentación Comercial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¿Por qué ahora?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sector ferroviario está en un punto de inflexión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3D71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3D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⚠️  REGULACIÓN OBLIGATORIA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EU Cyber Resilience Act (2024/2847) será obligatorio en dic. 2027.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Productos industriales sin ciberseguridad NO podrán venderse en la 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B8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🏭  COMPETENCIA OBSOLETA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competidores siguen centrados solo en hardware.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Quien domine el software dominará el mercado de la próxima década.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F5FF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🤖  LA IA ES INEVITABLE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Mantenimiento predictivo, optimización de consumos y diagnóstico asistido ya no son opcionales.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clientes lo esperan.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474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676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📊  DATOS SIN EXPLOTAR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931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máquinas generan millones de datos que se pierden.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Convertidos en inteligencia son un activo de valor incalculable.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5394960"/>
            <a:ext cx="6400800" cy="54864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Aquafrisch no va a ser espectador. Vamos a liderar.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2/22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Nuestra respuesta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0" cy="146304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00F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00F5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Aquafrisch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00F5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Supervisor Core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Núcleo de Supervisión Industrial de nueva generación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visualización 3D, ciberseguridad nativa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preparada para inteligencia artificial.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37160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EVOLUCIÓN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Aquafrisch Supervisor AI Core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AquarIA™ — Inteligencia Artificial nativa de Aquafrisch</a:t>
            </a:r>
            <a:endParaRPr lang="en-US" sz="1200" dirty="0"/>
          </a:p>
        </p:txBody>
      </p:sp>
      <p:pic>
        <p:nvPicPr>
          <p:cNvPr id="10" name="Image 0" descr="C:\Users\mpugnaghi\Documents\Work_In_Process\_Web\AI test\SW.PC.API.Backend_\docs\presentacion\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914400"/>
            <a:ext cx="4023360" cy="3017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46320" y="914400"/>
            <a:ext cx="4023360" cy="3017520"/>
          </a:xfrm>
          <a:prstGeom prst="roundRect">
            <a:avLst>
              <a:gd name="adj" fmla="val 1515"/>
            </a:avLst>
          </a:prstGeom>
          <a:ln w="15240">
            <a:solidFill>
              <a:srgbClr val="00F5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5FF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411480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1A1F3D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 QUE NOS DIFERENCIA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44805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Visualización 3D Digital Twin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4718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Ciberseguridad CRA de serie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49560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IA nativa (no módulo externo)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51937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10 años de soporte garantizado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0" y="54315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Multi-máquina, una plataforma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0" y="5669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Configuración sin programar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3/22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1A1F3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INNOVACIÓN VISUAL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Digital Twin 3D en Tiempo Real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4/22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Digital Twin 3D — Su máquina, en tiempo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Visualización inmersiva que ningún competidor ofrece</a:t>
            </a:r>
            <a:endParaRPr lang="en-US" sz="1300" dirty="0"/>
          </a:p>
        </p:txBody>
      </p:sp>
      <p:pic>
        <p:nvPicPr>
          <p:cNvPr id="5" name="Image 0" descr="C:\Users\mpugnaghi\Documents\Work_In_Process\_Web\AI test\SW.PC.API.Backend_\docs\presentacion\02_vista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4023360"/>
          </a:xfrm>
          <a:prstGeom prst="roundRect">
            <a:avLst>
              <a:gd name="adj" fmla="val 1136"/>
            </a:avLst>
          </a:prstGeom>
          <a:ln w="15240">
            <a:solidFill>
              <a:srgbClr val="00F5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5FF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🎮  Múltiples cámaras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2316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Datos PLC real-time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Modelos 3D industriales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20840" y="5577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En navegador, sin instalar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5/22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Experiencia Inmersiva — Control Total desde el 3D</a:t>
            </a:r>
            <a:endParaRPr lang="en-US" sz="2400" dirty="0"/>
          </a:p>
        </p:txBody>
      </p:sp>
      <p:pic>
        <p:nvPicPr>
          <p:cNvPr id="4" name="Image 0" descr="C:\Users\mpugnaghi\Documents\Work_In_Process\_Web\AI test\SW.PC.API.Backend_\docs\presentacion\02_01_vista_3d_inmers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0292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5029200" cy="3017520"/>
          </a:xfrm>
          <a:prstGeom prst="roundRect">
            <a:avLst>
              <a:gd name="adj" fmla="val 1515"/>
            </a:avLst>
          </a:prstGeom>
          <a:ln w="15240">
            <a:solidFill>
              <a:srgbClr val="00F5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5FF">
                <a:alpha val="30000"/>
              </a:srgbClr>
            </a:outerShdw>
          </a:effectLst>
        </p:spPr>
      </p:sp>
      <p:pic>
        <p:nvPicPr>
          <p:cNvPr id="6" name="Image 1" descr="C:\Users\mpugnaghi\Documents\Work_In_Process\_Web\AI test\SW.PC.API.Backend_\docs\presentacion\03_vista_3d_detal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3383280" cy="1417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1005840"/>
            <a:ext cx="3383280" cy="1417320"/>
          </a:xfrm>
          <a:prstGeom prst="roundRect">
            <a:avLst>
              <a:gd name="adj" fmla="val 3226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pic>
        <p:nvPicPr>
          <p:cNvPr id="8" name="Image 2" descr="C:\Users\mpugnaghi\Documents\Work_In_Process\_Web\AI test\SW.PC.API.Backend_\docs\presentacion\03_vista_3d_detalle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606040"/>
            <a:ext cx="3383280" cy="14173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0" y="2606040"/>
            <a:ext cx="3383280" cy="1417320"/>
          </a:xfrm>
          <a:prstGeom prst="roundRect">
            <a:avLst>
              <a:gd name="adj" fmla="val 3226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274320" y="42976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B800">
                <a:alpha val="30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"Nuestros clientes no ven un SCADA genérico. Ven su máquina real en 3D."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31520" y="4846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Ventaja competitiva directa: ningún competidor del sector tiene esto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14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6/22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HMI 3D — Cada ángulo, cada detalle, cada dato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PANEL DE CONTROL 3D CON DATOS EN VIVO</a:t>
            </a:r>
            <a:endParaRPr lang="en-US" sz="900" dirty="0"/>
          </a:p>
        </p:txBody>
      </p:sp>
      <p:pic>
        <p:nvPicPr>
          <p:cNvPr id="5" name="Image 0" descr="C:\Users\mpugnaghi\Documents\Work_In_Process\_Web\AI test\SW.PC.API.Backend_\docs\presentacion\03_vista_3d_detall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25880"/>
            <a:ext cx="4206240" cy="2011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325880"/>
            <a:ext cx="4206240" cy="2011680"/>
          </a:xfrm>
          <a:prstGeom prst="roundRect">
            <a:avLst>
              <a:gd name="adj" fmla="val 2273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0916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ZOOM A COMPONENTES Y SENSORES</a:t>
            </a:r>
            <a:endParaRPr lang="en-US" sz="900" dirty="0"/>
          </a:p>
        </p:txBody>
      </p:sp>
      <p:pic>
        <p:nvPicPr>
          <p:cNvPr id="8" name="Image 1" descr="C:\Users\mpugnaghi\Documents\Work_In_Process\_Web\AI test\SW.PC.API.Backend_\docs\presentacion\03_vista_3d_detalle_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4206240" cy="2011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9160" y="1325880"/>
            <a:ext cx="4206240" cy="2011680"/>
          </a:xfrm>
          <a:prstGeom prst="roundRect">
            <a:avLst>
              <a:gd name="adj" fmla="val 2273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7432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MONITORIZACIÓN DE PROCESO EN TIEMPO REAL</a:t>
            </a:r>
            <a:endParaRPr lang="en-US" sz="900" dirty="0"/>
          </a:p>
        </p:txBody>
      </p:sp>
      <p:pic>
        <p:nvPicPr>
          <p:cNvPr id="11" name="Image 2" descr="C:\Users\mpugnaghi\Documents\Work_In_Process\_Web\AI test\SW.PC.API.Backend_\docs\presentacion\03_vista_3d_detalle_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94760"/>
            <a:ext cx="4206240" cy="2011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74320" y="3794760"/>
            <a:ext cx="4206240" cy="2011680"/>
          </a:xfrm>
          <a:prstGeom prst="roundRect">
            <a:avLst>
              <a:gd name="adj" fmla="val 2273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70916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VISTA COMPLETA DE LA INSTALACIÓN</a:t>
            </a:r>
            <a:endParaRPr lang="en-US" sz="900" dirty="0"/>
          </a:p>
        </p:txBody>
      </p:sp>
      <p:pic>
        <p:nvPicPr>
          <p:cNvPr id="14" name="Image 3" descr="C:\Users\mpugnaghi\Documents\Work_In_Process\_Web\AI test\SW.PC.API.Backend_\docs\presentacion\03_vista_3d_detalle_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794760"/>
            <a:ext cx="4206240" cy="20116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709160" y="3794760"/>
            <a:ext cx="4206240" cy="2011680"/>
          </a:xfrm>
          <a:prstGeom prst="roundRect">
            <a:avLst>
              <a:gd name="adj" fmla="val 2273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17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7/22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1A1F3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CIBERSEGURIDAD NATIVA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EU Cyber Resilience Act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8/22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676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CUMPLIMIENTO ~95%  •  EU 2024/2847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Cyber Resilience Act — Calendario Obligatorio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3D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cumplimiento CRA, no se puede vender en la UE a partir de diciembre 2027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768096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94560"/>
            <a:ext cx="365760" cy="36576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127000" dist="50800" dir="16200000">
              <a:srgbClr val="00E676">
                <a:alpha val="6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FEB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~95% compliant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2194560"/>
            <a:ext cx="365760" cy="365760"/>
          </a:xfrm>
          <a:prstGeom prst="ellipse">
            <a:avLst/>
          </a:prstGeom>
          <a:solidFill>
            <a:srgbClr val="FFB800"/>
          </a:solidFill>
          <a:ln/>
          <a:effectLst>
            <a:outerShdw sx="100000" sy="100000" kx="0" ky="0" algn="bl" rotWithShape="0" blurRad="127000" dist="50800" dir="16200000">
              <a:srgbClr val="FFB800">
                <a:alpha val="6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JUN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organismos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2194560"/>
            <a:ext cx="365760" cy="365760"/>
          </a:xfrm>
          <a:prstGeom prst="ellipse">
            <a:avLst/>
          </a:prstGeom>
          <a:solidFill>
            <a:srgbClr val="FFB800"/>
          </a:solidFill>
          <a:ln/>
          <a:effectLst>
            <a:outerShdw sx="100000" sy="100000" kx="0" ky="0" algn="bl" rotWithShape="0" blurRad="127000" dist="50800" dir="16200000">
              <a:srgbClr val="FFB800">
                <a:alpha val="6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SEP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Obligación notif.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vulnerabilidades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2194560"/>
            <a:ext cx="365760" cy="365760"/>
          </a:xfrm>
          <a:prstGeom prst="ellipse">
            <a:avLst/>
          </a:prstGeom>
          <a:solidFill>
            <a:srgbClr val="FF3D71"/>
          </a:solidFill>
          <a:ln/>
          <a:effectLst>
            <a:outerShdw sx="100000" sy="100000" kx="0" ky="0" algn="bl" rotWithShape="0" blurRad="127000" dist="50800" dir="16200000">
              <a:srgbClr val="FF3D71">
                <a:alpha val="6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D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⚡ OBLIGATORIO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DIC 2027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D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Cumplimiento total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3D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requerido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676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AQUAFRISCH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Ciberseguridad integrada de serie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4897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SBOM automático (CycloneDX)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Audit Log cifrado SHA-256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49651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Verificación integridad cada 2 min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5202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Soporte garantizado 10 años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Scanner vulnerabilidades integrado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6784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Monitorización hardware real-time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49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A1F3D"/>
          </a:solidFill>
          <a:ln w="9525">
            <a:solidFill>
              <a:srgbClr val="FF3D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3D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 COMPETENCIA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4251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Sin plan de ciberseguridad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44897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Sin SBOM ni trazabilidad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37760" y="47274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Sin audit logs industriales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0" y="49651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Sin verificación de integridad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5202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Soporte limitado a contrato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5440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Sin gestión de vulnerabilidades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56784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Sin monitorización de IPC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9/22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Ciberseguridad que se ve — Audit Log e Integridad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un PDF de cumplimiento. Es software funcionando.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 LOG — Cadena de Hash SHA-256</a:t>
            </a:r>
            <a:endParaRPr lang="en-US" sz="1000" dirty="0"/>
          </a:p>
        </p:txBody>
      </p:sp>
      <p:pic>
        <p:nvPicPr>
          <p:cNvPr id="6" name="Image 0" descr="C:\Users\mpugnaghi\Documents\Work_In_Process\_Web\AI test\SW.PC.API.Backend_\docs\presentacion\05_audit_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0"/>
            <a:ext cx="42062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645920"/>
            <a:ext cx="4206240" cy="2377440"/>
          </a:xfrm>
          <a:prstGeom prst="roundRect">
            <a:avLst>
              <a:gd name="adj" fmla="val 1923"/>
            </a:avLst>
          </a:prstGeom>
          <a:ln w="15240">
            <a:solidFill>
              <a:srgbClr val="00F5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5FF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63440" y="1280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VERIFICACIÓN DE INTEGRIDAD</a:t>
            </a:r>
            <a:endParaRPr lang="en-US" sz="1000" dirty="0"/>
          </a:p>
        </p:txBody>
      </p:sp>
      <p:pic>
        <p:nvPicPr>
          <p:cNvPr id="9" name="Image 1" descr="C:\Users\mpugnaghi\Documents\Work_In_Process\_Web\AI test\SW.PC.API.Backend_\docs\presentacion\06_integr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45920"/>
            <a:ext cx="2011680" cy="2011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1645920"/>
            <a:ext cx="2011680" cy="2011680"/>
          </a:xfrm>
          <a:prstGeom prst="roundRect">
            <a:avLst>
              <a:gd name="adj" fmla="val 2273"/>
            </a:avLst>
          </a:prstGeom>
          <a:ln w="1524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50800" dir="16200000">
              <a:srgbClr val="00E676">
                <a:alpha val="30000"/>
              </a:srgbClr>
            </a:outerShdw>
          </a:effectLst>
        </p:spPr>
      </p:sp>
      <p:pic>
        <p:nvPicPr>
          <p:cNvPr id="11" name="Image 2" descr="C:\Users\mpugnaghi\Documents\Work_In_Process\_Web\AI test\SW.PC.API.Backend_\docs\presentacion\06_integridad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45920"/>
            <a:ext cx="2011680" cy="2011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66560" y="1645920"/>
            <a:ext cx="2011680" cy="2011680"/>
          </a:xfrm>
          <a:prstGeom prst="roundRect">
            <a:avLst>
              <a:gd name="adj" fmla="val 2273"/>
            </a:avLst>
          </a:prstGeom>
          <a:ln w="1524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50800" dir="16200000">
              <a:srgbClr val="00E676">
                <a:alpha val="3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274320" y="4297680"/>
            <a:ext cx="8595360" cy="1737360"/>
          </a:xfrm>
          <a:prstGeom prst="roundRect">
            <a:avLst>
              <a:gd name="adj" fmla="val 5263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¿QUÉ SIGNIFICA PARA EL CLIENTE?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475488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Cada acción queda registrada con firma criptográfica — imposible de manipular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505663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El software se auto-verifica cada 2 minutos — detecta modificaciones no autorizadas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535838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Cumple trazabilidad CRA (Art. 13) e IEC 62443 (Seguridad en Sistemas de Automatización y Control Industrial)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566013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Respuesta inmediata ante cualquier intento de intrusión o manipulación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20" name="Text 1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10/22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Transparencia Total — SBOM y Scanner de Vulnerabilidades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SBOM — Software Bill of Materials</a:t>
            </a:r>
            <a:endParaRPr lang="en-US" sz="1000" dirty="0"/>
          </a:p>
        </p:txBody>
      </p:sp>
      <p:pic>
        <p:nvPicPr>
          <p:cNvPr id="5" name="Image 0" descr="C:\Users\mpugnaghi\Documents\Work_In_Process\_Web\AI test\SW.PC.API.Backend_\docs\presentacion\07_sb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420624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463040"/>
            <a:ext cx="4206240" cy="1371600"/>
          </a:xfrm>
          <a:prstGeom prst="roundRect">
            <a:avLst>
              <a:gd name="adj" fmla="val 3333"/>
            </a:avLst>
          </a:prstGeom>
          <a:ln w="15240">
            <a:solidFill>
              <a:srgbClr val="00F5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5FF">
                <a:alpha val="30000"/>
              </a:srgbClr>
            </a:outerShdw>
          </a:effectLst>
        </p:spPr>
      </p:sp>
      <p:pic>
        <p:nvPicPr>
          <p:cNvPr id="7" name="Image 1" descr="C:\Users\mpugnaghi\Documents\Work_In_Process\_Web\AI test\SW.PC.API.Backend_\docs\presentacion\07_sbom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17520"/>
            <a:ext cx="4206240" cy="1554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017520"/>
            <a:ext cx="4206240" cy="1554480"/>
          </a:xfrm>
          <a:prstGeom prst="roundRect">
            <a:avLst>
              <a:gd name="adj" fmla="val 2941"/>
            </a:avLst>
          </a:prstGeom>
          <a:ln w="15240">
            <a:solidFill>
              <a:srgbClr val="00F5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5FF">
                <a:alpha val="3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663440" y="1097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D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SCANNER DE VULNERABILIDADES</a:t>
            </a:r>
            <a:endParaRPr lang="en-US" sz="1000" dirty="0"/>
          </a:p>
        </p:txBody>
      </p:sp>
      <p:pic>
        <p:nvPicPr>
          <p:cNvPr id="10" name="Image 2" descr="C:\Users\mpugnaghi\Documents\Work_In_Process\_Web\AI test\SW.PC.API.Backend_\docs\presentacion\08_vulnerabilidad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63040"/>
            <a:ext cx="4206240" cy="1828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63440" y="1463040"/>
            <a:ext cx="4206240" cy="1828800"/>
          </a:xfrm>
          <a:prstGeom prst="roundRect">
            <a:avLst>
              <a:gd name="adj" fmla="val 2500"/>
            </a:avLst>
          </a:prstGeom>
          <a:ln w="15240">
            <a:solidFill>
              <a:srgbClr val="FF3D71"/>
            </a:solidFill>
            <a:prstDash val="solid"/>
          </a:ln>
          <a:effectLst>
            <a:outerShdw sx="100000" sy="100000" kx="0" ky="0" algn="bl" rotWithShape="0" blurRad="101600" dist="50800" dir="16200000">
              <a:srgbClr val="FF3D71">
                <a:alpha val="3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663440" y="3474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4632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SLA DE RESPUESTA (Tiempo máximo de resolución garantizado)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84632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Crítica: 48 horas  •  Alta: 7 días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Media: 30 días  •  Baja: próxima actualización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74320" y="484632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4937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REQUISITO CRA (Anexo I, Parte II): Todo producto digital debe proporcionar SBOM y gestionar vulnerabilidades.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genera el SBOM automáticamente, escanea bases de datos (OSV, NVD, GitHub) y ofrece SLA (Service Level Agreement — Acuerdo de nivel de respuesta) definidos.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cliente tiene transparencia total sobre qué software ejecuta su máquina.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19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11/22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CRA — Documentación y Próximos Pasos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software está listo. Ahora completamos la documentación oficial para la certificación.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SOFTWARE — Implementación Técnica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2A306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00E67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E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Audit Log cifrado SHA-256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SBOM automático CycloneDX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Scanner vulnerabilidades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Verificación integridad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DOCUMENTACIÓN — Certificación Oficial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1783080"/>
            <a:ext cx="3657600" cy="274320"/>
          </a:xfrm>
          <a:prstGeom prst="roundRect">
            <a:avLst>
              <a:gd name="adj" fmla="val 16667"/>
            </a:avLst>
          </a:prstGeom>
          <a:solidFill>
            <a:srgbClr val="2A306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17830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F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E2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148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Evaluación riesgos ciberseguridad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2350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Documentación técnica (Anexo VII)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5511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Manual seguridad usuario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2752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Declaración UE conformidad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291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SISTEMA DE GESTIÓN DOCUMENTAL (DMS) — En implementación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8595360" cy="2377440"/>
          </a:xfrm>
          <a:prstGeom prst="roundRect">
            <a:avLst>
              <a:gd name="adj" fmla="val 3846"/>
            </a:avLst>
          </a:prstGeom>
          <a:solidFill>
            <a:srgbClr val="1A1F3D"/>
          </a:solidFill>
          <a:ln w="9525">
            <a:solidFill>
              <a:srgbClr val="00F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📄 DOCUMENTACIÓN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PÚBLICA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Política de seguridad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Períodos de soporte (10 años)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171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Manual de usuario software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183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Declaración UE Conformidad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🔐 PORTAL CLIENTE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(Acceso con login)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1148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SBOM por instalación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Configuración específica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5171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Manual personalizado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47183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Historial de actualizaciones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🏢 DOCUMENTACIÓN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INTERNA (Auditorías)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1148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Doc. técnica Anexo VII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315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Evaluación de riesgos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45171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Gestión de terceros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47183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Documentación por proyecto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Conectado con el sistema documental de la empresa (Directiva Máquinas + CRA)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530352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349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CALENDARIO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55778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D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0" y="55778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JUN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Doc. técnica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Manual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46320" y="55778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SEP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632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Declaración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UE conformidad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49440" y="55778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DIC 2027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4944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Cumplimiento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✓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12/22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1A1F3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GESTIÓN INTEGRAL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Alarmas, Usuarios, Hardware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13/22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Alarmas y Gestión de Usuarios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D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SISTEMA DE ALARMAS</a:t>
            </a:r>
            <a:endParaRPr lang="en-US" sz="1000" dirty="0"/>
          </a:p>
        </p:txBody>
      </p:sp>
      <p:pic>
        <p:nvPicPr>
          <p:cNvPr id="5" name="Image 0" descr="C:\Users\mpugnaghi\Documents\Work_In_Process\_Web\AI test\SW.PC.API.Backend_\docs\presentacion\04_alar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420624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371600"/>
            <a:ext cx="4206240" cy="1554480"/>
          </a:xfrm>
          <a:prstGeom prst="roundRect">
            <a:avLst>
              <a:gd name="adj" fmla="val 2941"/>
            </a:avLst>
          </a:prstGeom>
          <a:ln w="15240">
            <a:solidFill>
              <a:srgbClr val="FF3D71"/>
            </a:solidFill>
            <a:prstDash val="solid"/>
          </a:ln>
          <a:effectLst>
            <a:outerShdw sx="100000" sy="100000" kx="0" ky="0" algn="bl" rotWithShape="0" blurRad="101600" dist="50800" dir="16200000">
              <a:srgbClr val="FF3D71">
                <a:alpha val="30000"/>
              </a:srgbClr>
            </a:outerShdw>
          </a:effectLst>
        </p:spPr>
      </p:sp>
      <p:pic>
        <p:nvPicPr>
          <p:cNvPr id="7" name="Image 1" descr="C:\Users\mpugnaghi\Documents\Work_In_Process\_Web\AI test\SW.PC.API.Backend_\docs\presentacion\04_alarmas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08960"/>
            <a:ext cx="4206240" cy="1280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108960"/>
            <a:ext cx="4206240" cy="1280160"/>
          </a:xfrm>
          <a:prstGeom prst="roundRect">
            <a:avLst>
              <a:gd name="adj" fmla="val 3571"/>
            </a:avLst>
          </a:prstGeom>
          <a:ln w="15240">
            <a:solidFill>
              <a:srgbClr val="FF3D71"/>
            </a:solidFill>
            <a:prstDash val="solid"/>
          </a:ln>
          <a:effectLst>
            <a:outerShdw sx="100000" sy="100000" kx="0" ky="0" algn="bl" rotWithShape="0" blurRad="101600" dist="50800" dir="16200000">
              <a:srgbClr val="FF3D71">
                <a:alpha val="3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663440" y="1005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USUARIOS — 5 NIVELES DE ACCESO</a:t>
            </a:r>
            <a:endParaRPr lang="en-US" sz="1000" dirty="0"/>
          </a:p>
        </p:txBody>
      </p:sp>
      <p:pic>
        <p:nvPicPr>
          <p:cNvPr id="10" name="Image 2" descr="C:\Users\mpugnaghi\Documents\Work_In_Process\_Web\AI test\SW.PC.API.Backend_\docs\presentacion\09_usuari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71600"/>
            <a:ext cx="4206240" cy="15544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63440" y="1371600"/>
            <a:ext cx="4206240" cy="1554480"/>
          </a:xfrm>
          <a:prstGeom prst="roundRect">
            <a:avLst>
              <a:gd name="adj" fmla="val 2941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pic>
        <p:nvPicPr>
          <p:cNvPr id="12" name="Image 3" descr="C:\Users\mpugnaghi\Documents\Work_In_Process\_Web\AI test\SW.PC.API.Backend_\docs\presentacion\09_usuarios_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08960"/>
            <a:ext cx="4206240" cy="12801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663440" y="3108960"/>
            <a:ext cx="4206240" cy="1280160"/>
          </a:xfrm>
          <a:prstGeom prst="roundRect">
            <a:avLst>
              <a:gd name="adj" fmla="val 3571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274320" y="466344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JERARQUÍA DE SEGURIDAD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914400" y="5029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L1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371600" y="4983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371600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cliente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2926080" y="5029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L2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383280" y="4983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Operador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383280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diario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4937760" y="5029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L3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394960" y="4983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Mantenimiento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394960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Calibración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949440" y="5029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406640" y="4983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Visor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406640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lectura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29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14/22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Monitorización de Hardware Industrial (IPC)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Conocer el estado real del PC industrial que controla su máquina</a:t>
            </a:r>
            <a:endParaRPr lang="en-US" sz="1300" dirty="0"/>
          </a:p>
        </p:txBody>
      </p:sp>
      <p:pic>
        <p:nvPicPr>
          <p:cNvPr id="5" name="Image 0" descr="C:\Users\mpugnaghi\Documents\Work_In_Process\_Web\AI test\SW.PC.API.Backend_\docs\presentacion\10_harware 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54864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280160"/>
            <a:ext cx="5486400" cy="3474720"/>
          </a:xfrm>
          <a:prstGeom prst="roundRect">
            <a:avLst>
              <a:gd name="adj" fmla="val 1316"/>
            </a:avLst>
          </a:prstGeom>
          <a:ln w="15240">
            <a:solidFill>
              <a:srgbClr val="00F5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F5FF">
                <a:alpha val="30000"/>
              </a:srgbClr>
            </a:outerShdw>
          </a:effectLst>
        </p:spPr>
      </p:sp>
      <p:pic>
        <p:nvPicPr>
          <p:cNvPr id="7" name="Image 1" descr="C:\Users\mpugnaghi\Documents\Work_In_Process\_Web\AI test\SW.PC.API.Backend_\docs\presentacion\10_harware monitor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2926080" cy="2103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1280160"/>
            <a:ext cx="2926080" cy="2103120"/>
          </a:xfrm>
          <a:prstGeom prst="roundRect">
            <a:avLst>
              <a:gd name="adj" fmla="val 2174"/>
            </a:avLst>
          </a:prstGeom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50800" dir="16200000">
              <a:srgbClr val="00B4D8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943600" y="356616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MÉTRICAS EN TIEMPO REAL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126480" y="39776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CPU, RAM, Disco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126480" y="41788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Temperatura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126480" y="43799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Estado del sistema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126480" y="45811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Alertas automáticas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4320" y="502920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B800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" y="5029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"El cliente sabe el estado de salud de su IPC en todo momento.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Si algo falla, lo sabe ANTES de que la máquina pare."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15/22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Mantenimiento Inteligente y Estadísticas de Operación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reparación reactiva al mantenimiento predictivo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676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 HOY — Supervisor 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Estadísticas de ciclos de lavado por máquina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Tiempos de operación y paradas registradas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Historial completo de alarmas con timestamp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 Registro de intervenciones de mantenimiento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Contadores de uso por componente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Alertas de mantenimiento programado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 Datos exportables para análisis externo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B8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🔮  MAÑANA — Con AquarIA™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 Predicción de fallos antes de que ocurran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Optimización automática de consumo agua/energía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 Reducción de paradas no planificadas (-40%)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Planificación inteligente de recambios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Recetas de lavado adaptativas según estado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Asistente IA para diagnóstico del operador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Dashboard predictivo con tendencias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57200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1A1F3D"/>
          </a:solidFill>
          <a:ln w="9525">
            <a:solidFill>
              <a:srgbClr val="00F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¿QUÉ GANA EL CLIENTE?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5166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AHORRO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5394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Reducción consumo agua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hasta 25%. Menos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químicos y energía.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606040" y="5166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DISPONIBILIDAD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5394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Máquina operativa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tiempo. Menos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paradas imprevistas.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54880" y="5166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PLANIFICACIÓN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5394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Mantenimiento cuando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toca, no cuando falla.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Recambios a tiempo.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0372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03720" y="5166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DATOS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5394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Informes de operación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justificar inversión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optimizar contratos.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16/22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1A1F3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UNA PLATAFORMA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Todas sus máquinas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17/22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Una Plataforma — Todas las Instalaciones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 software. Distintas máquinas. Configuración independiente.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9525">
            <a:solidFill>
              <a:srgbClr val="00F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F5FF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AQUAFRISCH SUPERVISOR CORE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F3D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Túnel de Lavado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Madrid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88720" y="2286000"/>
            <a:ext cx="18288" cy="54864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10" name="Shape 8"/>
          <p:cNvSpPr/>
          <p:nvPr/>
        </p:nvSpPr>
        <p:spPr>
          <a:xfrm>
            <a:off x="2331720" y="28346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Cabina Lavado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Barcelona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286000"/>
            <a:ext cx="18288" cy="54864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28346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Lavado Bogies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Sevilla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0" y="2286000"/>
            <a:ext cx="18288" cy="54864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8346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F3D"/>
          </a:solidFill>
          <a:ln w="9525">
            <a:solidFill>
              <a:srgbClr val="00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Extracción WC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F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París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60920" y="2286000"/>
            <a:ext cx="18288" cy="54864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931920"/>
            <a:ext cx="8595360" cy="2103120"/>
          </a:xfrm>
          <a:prstGeom prst="roundRect">
            <a:avLst>
              <a:gd name="adj" fmla="val 4348"/>
            </a:avLst>
          </a:prstGeom>
          <a:solidFill>
            <a:srgbClr val="1A1F3D"/>
          </a:solidFill>
          <a:ln w="9525">
            <a:solidFill>
              <a:srgbClr val="2A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CADA INSTALACIÓN INCLUYE: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Excel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programar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4884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148840" y="4709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3D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GLB/GLTF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4048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4709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independiente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Aislada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3212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32120" y="4709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Restaurable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2376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23760" y="4709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aislada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5120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proyecto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18/22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1A1F3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EL FUTURO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AquarIA™ e Industria 6.0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19/22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90500" dist="50800" dir="16200000">
              <a:srgbClr val="FFB8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Roadmap — De Supervisor Core a AI Core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AquarIA™ — IA nativa, parte estructural del sistema, no un módulo externo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17320" y="1828800"/>
            <a:ext cx="27432" cy="96012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508760"/>
            <a:ext cx="457200" cy="457200"/>
          </a:xfrm>
          <a:prstGeom prst="ellipse">
            <a:avLst/>
          </a:prstGeom>
          <a:solidFill>
            <a:srgbClr val="00E676"/>
          </a:solidFill>
          <a:ln/>
          <a:effectLst>
            <a:outerShdw sx="100000" sy="100000" kx="0" ky="0" algn="bl" rotWithShape="0" blurRad="127000" dist="50800" dir="16200000">
              <a:srgbClr val="00E676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SUPERVISOR 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Visualización 3D • SCADA real-time • Ciberseguridad CRA • Multi-proyecto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DISPONIBLE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17320" y="3017520"/>
            <a:ext cx="27432" cy="96012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697480"/>
            <a:ext cx="457200" cy="457200"/>
          </a:xfrm>
          <a:prstGeom prst="ellipse">
            <a:avLst/>
          </a:prstGeom>
          <a:solidFill>
            <a:srgbClr val="00F5FF"/>
          </a:solidFill>
          <a:ln/>
          <a:effectLst>
            <a:outerShdw sx="100000" sy="100000" kx="0" ky="0" algn="bl" rotWithShape="0" blurRad="127000" dist="50800" dir="16200000">
              <a:srgbClr val="00F5FF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2560320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1A1F3D"/>
          </a:solidFill>
          <a:ln w="9525">
            <a:solidFill>
              <a:srgbClr val="00F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SUPERVISOR AI CORE v1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AquarIA™ Mantenimiento Predictivo • Detección anomalías • Optimización consumos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 DESARROLLO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17320" y="4206240"/>
            <a:ext cx="27432" cy="96012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3886200"/>
            <a:ext cx="457200" cy="45720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27000" dist="50800" dir="16200000">
              <a:srgbClr val="00B4D8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011680" y="3749040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1A1F3D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SUPERVISOR AI CORE v2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auto-asistido • Asistente IA operador • Recetas inteligentes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PLANIFICADO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88720" y="5074920"/>
            <a:ext cx="457200" cy="457200"/>
          </a:xfrm>
          <a:prstGeom prst="ellipse">
            <a:avLst/>
          </a:prstGeom>
          <a:solidFill>
            <a:srgbClr val="FFB800"/>
          </a:solidFill>
          <a:ln/>
          <a:effectLst>
            <a:outerShdw sx="100000" sy="100000" kx="0" ky="0" algn="bl" rotWithShape="0" blurRad="127000" dist="50800" dir="16200000">
              <a:srgbClr val="FFB8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2880" y="5029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2030+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11680" y="4937760"/>
            <a:ext cx="6675120" cy="960120"/>
          </a:xfrm>
          <a:prstGeom prst="roundRect">
            <a:avLst>
              <a:gd name="adj" fmla="val 9524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PLATAFORMA SaaS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19456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negocio recurrente • Flota en la nube • Analytics multi-site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5029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VISIÓN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tecnológica propia para la próxima década  •  2025–2035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20/22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254000" dist="63500" dir="16200000">
              <a:srgbClr val="00F5FF">
                <a:alpha val="6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AquarIA™ — ¿Qué hará por sus operadores?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A1F3D"/>
          </a:solidFill>
          <a:ln w="9525">
            <a:solidFill>
              <a:srgbClr val="00F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F5FF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828800" cy="18288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Anticipa fallos antes de que ocurran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Reduce paradas no planificadas 40%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Programa mantenimiento óptimo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Extiende vida útil componentes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B8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2148840"/>
            <a:ext cx="1828800" cy="1828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Reduce consumo agua hasta 25%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Optimiza ciclos por tipo de tren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Adapta programas al estado real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ROI (Retorno de Inversión) demostrable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  <a:effectLst>
            <a:outerShdw sx="100000" sy="100000" kx="0" ky="0" algn="bl" rotWithShape="0" blurRad="152400" dist="50800" dir="16200000">
              <a:srgbClr val="00E676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264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ASISTENCIA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2148840"/>
            <a:ext cx="1828800" cy="1828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Diagnóstico asistido por IA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Guía paso a paso al operador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Recetas inteligentes adaptativas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Aprendizaje de datos reales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5303520"/>
            <a:ext cx="8595360" cy="731520"/>
          </a:xfrm>
          <a:prstGeom prst="roundRect">
            <a:avLst>
              <a:gd name="adj" fmla="val 12500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16200000">
              <a:srgbClr val="FFB8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5303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"AquarIA™ no reemplaza al operador. Le da superpoderes."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AQUAFRISCH SUPERVISOR CORE  •  Confidencial  • 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21/22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F5FF"/>
          </a:solidFill>
          <a:ln/>
          <a:effectLst>
            <a:outerShdw sx="100000" sy="100000" kx="0" ky="0" algn="bl" rotWithShape="0" blurRad="508000" dist="127000" dir="16200000">
              <a:srgbClr val="00F5FF">
                <a:alpha val="8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1200000">
            <a:off x="7315200" y="457200"/>
            <a:ext cx="9144" cy="365760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7955280" y="274320"/>
            <a:ext cx="9144" cy="4572000"/>
          </a:xfrm>
          <a:prstGeom prst="rect">
            <a:avLst/>
          </a:prstGeom>
          <a:solidFill>
            <a:srgbClr val="2A30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AQUAFRISCH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El futuro del lavado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ferroviario es inteligente.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90500" dist="50800" dir="16200000">
              <a:srgbClr val="FFB8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B80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Y ya está aquí.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Primer sistema de supervisión 3D con ciberseguridad CRA nativa del sector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Tecnología propia con perspectiva a 10 años (2025–2035)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AquarIA™ — IA nativa para mantenimiento predictivo y optimización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De fabricante de hardware a líder en software industrial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Modelo de negocio evolutivo: producto → software → servicio recurrente (SaaS)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5394960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1A1F3D"/>
          </a:solidFill>
          <a:ln w="9525">
            <a:solidFill>
              <a:srgbClr val="00F5FF"/>
            </a:solidFill>
            <a:prstDash val="solid"/>
          </a:ln>
          <a:effectLst>
            <a:outerShdw sx="100000" sy="100000" kx="0" ky="0" algn="bl" rotWithShape="0" blurRad="152400" dist="50800" dir="16200000">
              <a:srgbClr val="00F5FF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¿Hablamos?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www.aquafrisch.com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539496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A1F3D"/>
          </a:solidFill>
          <a:ln w="9525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5394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EU CRA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COMPLIANT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539496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A1F3D"/>
          </a:solidFill>
          <a:ln w="9525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5394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B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6.0 READY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50815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446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Aquafrisch  •  Todos los derechos reservados  •  Aquafrisch Supervisor Core™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Aquafrisch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Aquafrisch Supervisor Core</dc:title>
  <dc:subject>Presentación Comercial</dc:subject>
  <dc:creator>Aquafrisch</dc:creator>
  <cp:lastModifiedBy>Aquafrisch</cp:lastModifiedBy>
  <cp:revision>1</cp:revision>
  <dcterms:created xsi:type="dcterms:W3CDTF">2026-02-11T13:21:30Z</dcterms:created>
  <dcterms:modified xsi:type="dcterms:W3CDTF">2026-02-11T13:21:30Z</dcterms:modified>
</cp:coreProperties>
</file>